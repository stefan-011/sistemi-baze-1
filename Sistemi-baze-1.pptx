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1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CBED6-CF35-444F-BD2B-7E7A70DB0642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AC51-9FB3-4EDC-A330-FB891E032380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7567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3AC51-9FB3-4EDC-A330-FB891E032380}" type="slidenum">
              <a:rPr lang="sr-Latn-RS" smtClean="0"/>
              <a:t>10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20439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3AC51-9FB3-4EDC-A330-FB891E032380}" type="slidenum">
              <a:rPr lang="sr-Latn-RS" smtClean="0"/>
              <a:t>11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171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6430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4175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082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12832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9651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57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905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3142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156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598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55648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6614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59336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58869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88531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1577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1774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AC62-F6F6-4D65-9297-4925B1D4409D}" type="datetimeFigureOut">
              <a:rPr lang="sr-Latn-RS" smtClean="0"/>
              <a:t>12.5.2026.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49044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3CE6-2754-4214-BF25-F04CC3A2AF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4000" dirty="0" err="1"/>
              <a:t>Uticaj</a:t>
            </a:r>
            <a:r>
              <a:rPr lang="en-US" sz="4000" dirty="0"/>
              <a:t> </a:t>
            </a:r>
            <a:r>
              <a:rPr lang="en-US" sz="4000" dirty="0" err="1"/>
              <a:t>indeksa</a:t>
            </a:r>
            <a:r>
              <a:rPr lang="en-US" sz="4000" dirty="0"/>
              <a:t> </a:t>
            </a:r>
            <a:r>
              <a:rPr lang="en-US" sz="4000" dirty="0" err="1"/>
              <a:t>na</a:t>
            </a:r>
            <a:r>
              <a:rPr lang="en-US" sz="4000" dirty="0"/>
              <a:t> INSERT/UPDATE </a:t>
            </a:r>
            <a:r>
              <a:rPr lang="en-US" sz="4000" dirty="0" err="1"/>
              <a:t>performanse</a:t>
            </a:r>
            <a:r>
              <a:rPr lang="en-US" sz="4000" dirty="0"/>
              <a:t> u MySQL</a:t>
            </a:r>
            <a:endParaRPr lang="sr-Latn-R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F59CA-53FD-4155-AF20-4C54E960E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da-DK" dirty="0"/>
              <a:t>Stefan Stanimirovic 2172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DDCF8-D7DC-48F9-A19C-9D4198577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481" y="2660401"/>
            <a:ext cx="1537197" cy="153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4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8698-0410-46D9-85FB-09AB606C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Uticaj indeksa na INSERT/UPDATE performanse u </a:t>
            </a:r>
            <a:r>
              <a:rPr lang="sr-Latn-RS" dirty="0" err="1"/>
              <a:t>MySQL</a:t>
            </a:r>
            <a:r>
              <a:rPr lang="sr-Latn-RS" dirty="0"/>
              <a:t>-u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0DDBA4-9BAF-432C-9287-60FE58026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78389"/>
            <a:ext cx="7887096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rebuchet MS (Body)"/>
              </a:rPr>
              <a:t> </a:t>
            </a:r>
            <a:r>
              <a:rPr lang="sr-Latn-RS" sz="1800" dirty="0">
                <a:latin typeface="Trebuchet MS (Body)"/>
              </a:rPr>
              <a:t>Uticaj indeksa na INSERT/UPDATE performanse u </a:t>
            </a:r>
            <a:r>
              <a:rPr lang="sr-Latn-RS" sz="1800" dirty="0" err="1">
                <a:latin typeface="Trebuchet MS (Body)"/>
              </a:rPr>
              <a:t>MySQL</a:t>
            </a:r>
            <a:r>
              <a:rPr lang="sr-Latn-RS" sz="1800" dirty="0">
                <a:latin typeface="Trebuchet MS (Body)"/>
              </a:rPr>
              <a:t>-u</a:t>
            </a: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rebuchet MS (Body)"/>
              </a:rPr>
              <a:t> </a:t>
            </a:r>
            <a:r>
              <a:rPr lang="sr-Latn-RS" sz="1800" dirty="0">
                <a:latin typeface="Trebuchet MS (Body)"/>
              </a:rPr>
              <a:t>Baze podataka predstavljaju osnovu savremenih informacionih sistema </a:t>
            </a: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rebuchet MS (Body)"/>
              </a:rPr>
              <a:t> </a:t>
            </a:r>
            <a:r>
              <a:rPr lang="sr-Latn-RS" sz="1800" dirty="0">
                <a:latin typeface="Trebuchet MS (Body)"/>
              </a:rPr>
              <a:t>Performanse baze direktno utiču na brzinu rada aplikacija </a:t>
            </a: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rebuchet MS (Body)"/>
              </a:rPr>
              <a:t> </a:t>
            </a:r>
            <a:r>
              <a:rPr lang="sr-Latn-RS" sz="1800" dirty="0">
                <a:latin typeface="Trebuchet MS (Body)"/>
              </a:rPr>
              <a:t>Indeksi ubrzavaju pretragu i pristup podacima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4C73B-AF89-47A1-A8E4-DE6D8C00C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34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8698-0410-46D9-85FB-09AB606C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b="1" dirty="0"/>
              <a:t>Osnove relacionih baza podataka i </a:t>
            </a:r>
            <a:r>
              <a:rPr lang="sr-Latn-RS" b="1" dirty="0" err="1"/>
              <a:t>MySQL</a:t>
            </a:r>
            <a:r>
              <a:rPr lang="sr-Latn-RS" b="1" dirty="0"/>
              <a:t>-a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0DDBA4-9BAF-432C-9287-60FE58026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789776"/>
            <a:ext cx="8321636" cy="21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MySQL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podržava više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storage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engine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-a za upravljanje podacima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Najčešće korišćeni su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InnoDB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i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MyISAM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InnoDB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je podrazumevani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engine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u modernim verzijama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MySQL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-a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MyISAM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je optimizovan za brzo čitanje podataka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E09A0-44D2-479C-8A68-F8256CCBF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1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Indeksi u </a:t>
            </a:r>
            <a:r>
              <a:rPr lang="sr-Latn-RS" dirty="0" err="1"/>
              <a:t>MySQL</a:t>
            </a:r>
            <a:r>
              <a:rPr lang="sr-Latn-RS" dirty="0"/>
              <a:t>-u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A03FDA-E5F1-4617-A080-0244018E2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805782"/>
            <a:ext cx="8031366" cy="294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Bez indeksa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MySQL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radi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full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table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scan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(pregled svih redova)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Sa indeksom se koristi posebna struktura za brže pronalaženje podataka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Indeksi se najčešće koriste za SELECT upite i WHERE uslove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Tipovi indeksa: PRIMARY KEY, UNIQUE, INDEX, COMPOSITE, FULLTEXT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Najčešće se koriste B-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Tree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strukture, dok se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Hash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koristi ređe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Previše indeksa može negativno uticati na performanse sistema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0DC2D-2EC2-4BD2-82E4-61676B3D3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18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pl-PL" dirty="0"/>
              <a:t>INSERT i UPDATE operacije u MySQL-u</a:t>
            </a:r>
            <a:endParaRPr lang="sr-Latn-R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BF1BF0-AFC9-455B-A4FD-F2BAE86E99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798654"/>
            <a:ext cx="8738887" cy="21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Svaka INSERT/UPDATE operacija mora da ažurira i indekse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Veći broj indeksa = veće opterećenje pri upisu podataka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Na performanse utiču broj indeksa, veličina tabele i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storage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engine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Zaključavanje može dodatno usporiti paralelne operacije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46A2B-7BC7-41BE-BC42-4B6DA609E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7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Uticaj indeksa na INSERT/UPDATE performans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DF0B64-6E3D-400E-8ABE-918634F91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443" y="1834166"/>
            <a:ext cx="9350729" cy="2534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Indeksi ubrzavaju SELECT upite, ali usporavaju INSERT i UPDATE operacije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UPDATE je posebno spor ako menja indeksirane kolone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Održavanje indeksa uključuje B-</a:t>
            </a:r>
            <a:r>
              <a:rPr kumimoji="0" lang="sr-Latn-RS" altLang="sr-Latn-R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Tree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ažuriranje i dodatne I/O operacije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Tabele bez indeksa imaju brži upis, ali sporije pretrage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Ključ je balans između brzine čitanja i upisa podataka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60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Eksperimentalni deo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DF0B64-6E3D-400E-8ABE-918634F91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739944"/>
            <a:ext cx="9350729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pl-PL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Struktura baze i testnih tabela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Definicija</a:t>
            </a: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entiteta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Test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podaci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Kreiranje</a:t>
            </a: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indeksa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Test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scenariji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Testiranje</a:t>
            </a: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INSERT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performansi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Testiranje</a:t>
            </a: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UPDATE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performansi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lang="en-US" altLang="sr-Latn-RS" sz="1800" dirty="0">
                <a:latin typeface="Trebuchet MS (Body)"/>
              </a:rPr>
              <a:t> </a:t>
            </a:r>
            <a:r>
              <a:rPr lang="en-US" altLang="sr-Latn-RS" sz="1800" dirty="0" err="1">
                <a:latin typeface="Trebuchet MS (Body)"/>
              </a:rPr>
              <a:t>Metodologija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06878E-5824-48FA-9D07-422DF9250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715" y="2060451"/>
            <a:ext cx="3838575" cy="2352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2959E6-8119-48DF-8422-5EC041754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021" y="4481926"/>
            <a:ext cx="385762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2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err="1"/>
              <a:t>Rezultati</a:t>
            </a:r>
            <a:r>
              <a:rPr lang="en-US" dirty="0"/>
              <a:t> INSERT </a:t>
            </a:r>
            <a:r>
              <a:rPr lang="en-US" dirty="0" err="1"/>
              <a:t>operacije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A138C5-C323-4297-9EB2-1F839150A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075784"/>
              </p:ext>
            </p:extLst>
          </p:nvPr>
        </p:nvGraphicFramePr>
        <p:xfrm>
          <a:off x="787571" y="2315313"/>
          <a:ext cx="5951532" cy="250736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87883">
                  <a:extLst>
                    <a:ext uri="{9D8B030D-6E8A-4147-A177-3AD203B41FA5}">
                      <a16:colId xmlns:a16="http://schemas.microsoft.com/office/drawing/2014/main" val="4070692677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330584244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154651303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4161791602"/>
                    </a:ext>
                  </a:extLst>
                </a:gridCol>
              </a:tblGrid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Broj slogova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Bez indeksa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Sa indeksima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Razlika (%)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15760729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100k 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0.5637 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0.9668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+71.5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675331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200k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0.5490 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0.9604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+74.9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6386516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300k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0.5385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0.9865 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+83.2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1724551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400k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0.5636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1.0130 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+79.7</a:t>
                      </a:r>
                      <a:endParaRPr lang="sr-Latn-RS" sz="1800" dirty="0">
                        <a:solidFill>
                          <a:srgbClr val="000000"/>
                        </a:solidFill>
                        <a:effectLst/>
                        <a:latin typeface="Trebuchet MS (Body)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0211644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0.5415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1.0679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+97.2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354683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060A9F-F7ED-4D3B-8CD4-E1EA3F8F73F1}"/>
              </a:ext>
            </a:extLst>
          </p:cNvPr>
          <p:cNvSpPr txBox="1"/>
          <p:nvPr/>
        </p:nvSpPr>
        <p:spPr>
          <a:xfrm>
            <a:off x="787570" y="4918462"/>
            <a:ext cx="59515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sr-Latn-RS" sz="1800" dirty="0">
                <a:effectLst/>
                <a:latin typeface="Trebuchet MS (Body)"/>
              </a:rPr>
              <a:t>Tabela 1: Uporedni prikaz INSERT performansi (</a:t>
            </a:r>
            <a:r>
              <a:rPr lang="sr-Latn-RS" sz="1800" dirty="0" err="1">
                <a:effectLst/>
                <a:latin typeface="Trebuchet MS (Body)"/>
              </a:rPr>
              <a:t>Bulk</a:t>
            </a:r>
            <a:r>
              <a:rPr lang="sr-Latn-RS" sz="1800" dirty="0">
                <a:effectLst/>
                <a:latin typeface="Trebuchet MS (Body)"/>
              </a:rPr>
              <a:t>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110C68-8481-4F02-ABA3-A4C51D724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1796" y="2315313"/>
            <a:ext cx="3528825" cy="37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4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err="1"/>
              <a:t>Rezultati</a:t>
            </a:r>
            <a:r>
              <a:rPr lang="en-US" dirty="0"/>
              <a:t> INSERT </a:t>
            </a:r>
            <a:r>
              <a:rPr lang="en-US" dirty="0" err="1"/>
              <a:t>operacije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A138C5-C323-4297-9EB2-1F839150A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164395"/>
              </p:ext>
            </p:extLst>
          </p:nvPr>
        </p:nvGraphicFramePr>
        <p:xfrm>
          <a:off x="787571" y="2315313"/>
          <a:ext cx="5951532" cy="250736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87883">
                  <a:extLst>
                    <a:ext uri="{9D8B030D-6E8A-4147-A177-3AD203B41FA5}">
                      <a16:colId xmlns:a16="http://schemas.microsoft.com/office/drawing/2014/main" val="4070692677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330584244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154651303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4161791602"/>
                    </a:ext>
                  </a:extLst>
                </a:gridCol>
              </a:tblGrid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Broj slogova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Bez indeksa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Sa indeksima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Razlika (%)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15760729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500k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10.1849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10.4416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+2.5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675331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510k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10.1175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10.5099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+3.9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6386516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520k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10.3914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10.4883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+0.9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1724551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530k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10.1388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10.4451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+3.0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0211644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540k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10.1593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10.9377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+7.7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354683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060A9F-F7ED-4D3B-8CD4-E1EA3F8F73F1}"/>
              </a:ext>
            </a:extLst>
          </p:cNvPr>
          <p:cNvSpPr txBox="1"/>
          <p:nvPr/>
        </p:nvSpPr>
        <p:spPr>
          <a:xfrm>
            <a:off x="787570" y="4918462"/>
            <a:ext cx="59515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sr-Latn-RS" sz="1800" dirty="0">
                <a:effectLst/>
                <a:latin typeface="Trebuchet MS (Body)"/>
              </a:rPr>
              <a:t>Tabela 2: Uporedni prikaz INSERT performansi (Single)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AFBB5DA-D773-4906-A0FD-E21B134CF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7949" y="2315313"/>
            <a:ext cx="3528825" cy="378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5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err="1"/>
              <a:t>Rezultati</a:t>
            </a:r>
            <a:r>
              <a:rPr lang="en-US" dirty="0"/>
              <a:t> UPDATE </a:t>
            </a:r>
            <a:r>
              <a:rPr lang="en-US" dirty="0" err="1"/>
              <a:t>operacije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A138C5-C323-4297-9EB2-1F839150A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052132"/>
              </p:ext>
            </p:extLst>
          </p:nvPr>
        </p:nvGraphicFramePr>
        <p:xfrm>
          <a:off x="787571" y="2315313"/>
          <a:ext cx="5951532" cy="250736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87883">
                  <a:extLst>
                    <a:ext uri="{9D8B030D-6E8A-4147-A177-3AD203B41FA5}">
                      <a16:colId xmlns:a16="http://schemas.microsoft.com/office/drawing/2014/main" val="4070692677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330584244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154651303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4161791602"/>
                    </a:ext>
                  </a:extLst>
                </a:gridCol>
              </a:tblGrid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Broj slogova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Bez indeksa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Sa indeksima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Razlika (%)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15760729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100k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0.0593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0.0482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-18.7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675331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200k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0.0873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0.0864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-1.0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6386516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300k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0.1235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0.1257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+1.8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1724551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400k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0.1683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0.1679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-0.2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0211644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500k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0.2001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0.2116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+5.7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354683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060A9F-F7ED-4D3B-8CD4-E1EA3F8F73F1}"/>
              </a:ext>
            </a:extLst>
          </p:cNvPr>
          <p:cNvSpPr txBox="1"/>
          <p:nvPr/>
        </p:nvSpPr>
        <p:spPr>
          <a:xfrm>
            <a:off x="787570" y="4918462"/>
            <a:ext cx="59515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sr-Latn-RS" sz="1800" dirty="0">
                <a:effectLst/>
                <a:latin typeface="Trebuchet MS (Body)"/>
              </a:rPr>
              <a:t>Tabela 3: Uporedni prikaz UPDATE performansi (</a:t>
            </a:r>
            <a:r>
              <a:rPr lang="sr-Latn-RS" sz="1800" dirty="0" err="1">
                <a:effectLst/>
                <a:latin typeface="Trebuchet MS (Body)"/>
              </a:rPr>
              <a:t>Bulk</a:t>
            </a:r>
            <a:r>
              <a:rPr lang="sr-Latn-RS" sz="1800" dirty="0">
                <a:effectLst/>
                <a:latin typeface="Trebuchet MS (Body)"/>
              </a:rPr>
              <a:t>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C81049-2A3C-4B63-8BFA-8FD83125A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9231" y="2315313"/>
            <a:ext cx="3536422" cy="369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0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err="1"/>
              <a:t>Rezultati</a:t>
            </a:r>
            <a:r>
              <a:rPr lang="en-US" dirty="0"/>
              <a:t> UPDATE </a:t>
            </a:r>
            <a:r>
              <a:rPr lang="en-US" dirty="0" err="1"/>
              <a:t>operacije</a:t>
            </a:r>
            <a:endParaRPr lang="sr-Latn-R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0715-0B60-44B0-A8BB-A3873D7D9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A138C5-C323-4297-9EB2-1F839150A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534576"/>
              </p:ext>
            </p:extLst>
          </p:nvPr>
        </p:nvGraphicFramePr>
        <p:xfrm>
          <a:off x="787571" y="2315313"/>
          <a:ext cx="5951532" cy="250736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87883">
                  <a:extLst>
                    <a:ext uri="{9D8B030D-6E8A-4147-A177-3AD203B41FA5}">
                      <a16:colId xmlns:a16="http://schemas.microsoft.com/office/drawing/2014/main" val="4070692677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330584244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1154651303"/>
                    </a:ext>
                  </a:extLst>
                </a:gridCol>
                <a:gridCol w="1487883">
                  <a:extLst>
                    <a:ext uri="{9D8B030D-6E8A-4147-A177-3AD203B41FA5}">
                      <a16:colId xmlns:a16="http://schemas.microsoft.com/office/drawing/2014/main" val="4161791602"/>
                    </a:ext>
                  </a:extLst>
                </a:gridCol>
              </a:tblGrid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Broj slogova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Bez indeksa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Sa indeksima (s)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Razlika (%)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15760729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500k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1.7494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0.0089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-99.5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675331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510k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1.7961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0.0159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-99.1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6386516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520k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1.8131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0.0084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-99.5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1724551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530k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1.7592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0.0109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-99.4 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02116444"/>
                  </a:ext>
                </a:extLst>
              </a:tr>
              <a:tr h="34208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540k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1.8246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0.0098 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</a:pPr>
                      <a:r>
                        <a:rPr lang="sr-Latn-RS" sz="1800" dirty="0">
                          <a:solidFill>
                            <a:srgbClr val="000000"/>
                          </a:solidFill>
                          <a:effectLst/>
                          <a:latin typeface="Trebuchet MS (Body)"/>
                        </a:rPr>
                        <a:t>-99.4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3546832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060A9F-F7ED-4D3B-8CD4-E1EA3F8F73F1}"/>
              </a:ext>
            </a:extLst>
          </p:cNvPr>
          <p:cNvSpPr txBox="1"/>
          <p:nvPr/>
        </p:nvSpPr>
        <p:spPr>
          <a:xfrm>
            <a:off x="787570" y="4918462"/>
            <a:ext cx="5951533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sr-Latn-RS" sz="1800" dirty="0">
                <a:effectLst/>
                <a:latin typeface="Trebuchet MS (Body)"/>
              </a:rPr>
              <a:t>Tabela 4: Uporedni prikaz UPDATE performansi (Single)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EC01FAE-A3F1-4418-AFC9-938E051F2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3001" y="2315313"/>
            <a:ext cx="3463010" cy="36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59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7D3A-5D9A-4B9A-8EC3-E511C0A7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rezultata</a:t>
            </a:r>
            <a:endParaRPr lang="sr-Latn-R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6737-D147-4671-A0BB-232C0FCF1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altLang="sr-Latn-RS" sz="1800" dirty="0" err="1">
                <a:latin typeface="Trebuchet MS (Body)"/>
              </a:rPr>
              <a:t>Analiza</a:t>
            </a:r>
            <a:r>
              <a:rPr lang="en-US" altLang="sr-Latn-RS" sz="1800" dirty="0">
                <a:latin typeface="Trebuchet MS (Body)"/>
              </a:rPr>
              <a:t> INSERT </a:t>
            </a:r>
            <a:r>
              <a:rPr lang="en-US" altLang="sr-Latn-RS" sz="1800" dirty="0" err="1">
                <a:latin typeface="Trebuchet MS (Body)"/>
              </a:rPr>
              <a:t>operacija</a:t>
            </a:r>
            <a:endParaRPr lang="en-US" altLang="sr-Latn-RS" sz="1800" dirty="0">
              <a:latin typeface="Trebuchet MS (Body)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Analiza</a:t>
            </a: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UPDATE </a:t>
            </a: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oparacij</a:t>
            </a:r>
            <a:r>
              <a:rPr lang="en-US" altLang="sr-Latn-RS" sz="1800" dirty="0" err="1">
                <a:latin typeface="Trebuchet MS (Body)"/>
              </a:rPr>
              <a:t>a</a:t>
            </a:r>
            <a:endParaRPr lang="en-US" altLang="sr-Latn-RS" sz="1800" dirty="0">
              <a:latin typeface="Trebuchet MS (Body)"/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kumimoji="0" lang="en-U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Zaklju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čak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ekspreimenta</a:t>
            </a: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>
              <a:lnSpc>
                <a:spcPct val="150000"/>
              </a:lnSpc>
            </a:pPr>
            <a:endParaRPr lang="sr-Latn-R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0F202-2AB2-4FAC-97D9-847DAB04B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5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Preporuke za optimizaciju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6F99F6-3214-4BF9-962C-07D2D6197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954012"/>
            <a:ext cx="8480717" cy="294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Koristiti indekse za WHERE, JOIN, ORDER BY i UNIQUE kolone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Izbegavati previše indeksa na tabelama sa čestim upisom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Optimizacija INSERT: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batch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unos i manje indeksa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Optimizacija UPDATE: ne menjati indeksirane kolone, precizni WHERE uslovi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Koristiti EXPLAIN i redovno uklanjati nepotrebne indekse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InnoDB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je standard za većinu slučajeva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F5340-BC0A-4BBE-8560-9E28968EC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5BD9-8B80-426B-A635-574748EC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 dirty="0"/>
              <a:t>Zaključak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07F46CF-D42A-4EF5-A8D5-FFDF5EE167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764599"/>
            <a:ext cx="7051930" cy="294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sr-Latn-RS" altLang="sr-Latn-R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rebuchet MS (Body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Indeksi ubrzavaju čitanje, ali usporavaju upis i izmene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Uzrok: stalno održavanje B-</a:t>
            </a:r>
            <a:r>
              <a:rPr kumimoji="0" lang="sr-Latn-RS" altLang="sr-Latn-R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Tree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struktura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Ključni balans: READ </a:t>
            </a:r>
            <a:r>
              <a:rPr kumimoji="0" lang="sr-Latn-RS" altLang="sr-Latn-R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vs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WRITE performanse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Više indeksa = sporiji INSERT/UPDATE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UPDATE posebno osetljiv na indeksirane kolone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 </a:t>
            </a:r>
            <a:r>
              <a:rPr kumimoji="0" lang="sr-Latn-RS" altLang="sr-Latn-R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rebuchet MS (Body)"/>
              </a:rPr>
              <a:t>Zaključak: indeksi su korisni, ali samo ako su pažljivo odabrani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0CA5B-512A-4A99-9B25-FF5893DA6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71" y="699663"/>
            <a:ext cx="1188068" cy="11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9569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Custom 4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B26B02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96</TotalTime>
  <Words>640</Words>
  <Application>Microsoft Office PowerPoint</Application>
  <PresentationFormat>Widescreen</PresentationFormat>
  <Paragraphs>170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Trebuchet MS (Body)</vt:lpstr>
      <vt:lpstr>Wingdings</vt:lpstr>
      <vt:lpstr>Berlin</vt:lpstr>
      <vt:lpstr>Uticaj indeksa na INSERT/UPDATE performanse u MySQL</vt:lpstr>
      <vt:lpstr>Uticaj indeksa na INSERT/UPDATE performanse u MySQL-u</vt:lpstr>
      <vt:lpstr>Osnove relacionih baza podataka i MySQL-a</vt:lpstr>
      <vt:lpstr>Indeksi u MySQL-u</vt:lpstr>
      <vt:lpstr>INSERT i UPDATE operacije u MySQL-u</vt:lpstr>
      <vt:lpstr>Uticaj indeksa na INSERT/UPDATE performans</vt:lpstr>
      <vt:lpstr>Eksperimentalni deo</vt:lpstr>
      <vt:lpstr>Rezultati INSERT operacije</vt:lpstr>
      <vt:lpstr>Rezultati INSERT operacije</vt:lpstr>
      <vt:lpstr>Rezultati UPDATE operacije</vt:lpstr>
      <vt:lpstr>Rezultati UPDATE operacije</vt:lpstr>
      <vt:lpstr>Analiza rezultata</vt:lpstr>
      <vt:lpstr>Preporuke za optimizaciju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Stanimirovic</dc:creator>
  <cp:lastModifiedBy>Stefan Stanimirovic</cp:lastModifiedBy>
  <cp:revision>19</cp:revision>
  <dcterms:created xsi:type="dcterms:W3CDTF">2026-05-12T18:22:41Z</dcterms:created>
  <dcterms:modified xsi:type="dcterms:W3CDTF">2026-05-12T21:42:42Z</dcterms:modified>
</cp:coreProperties>
</file>